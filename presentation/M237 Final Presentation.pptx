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6D1B7C-E844-4EAC-9DDB-2352D24FB9F9}">
  <a:tblStyle styleId="{466D1B7C-E844-4EAC-9DDB-2352D24FB9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c8f4fb68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c8f4fb68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c8f4fb68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c8f4fb68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9fd1dfd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c9fd1dfd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cfd4d9ac0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cfd4d9ac0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c9fd1dfd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c9fd1dfd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c9fd1dfd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c9fd1dfd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c9fd1dfd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c9fd1dfd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9fd1dfd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c9fd1dfd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c9fd1dfd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c9fd1dfd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9fd1dfd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c9fd1dfd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15.jpg"/><Relationship Id="rId5" Type="http://schemas.openxmlformats.org/officeDocument/2006/relationships/image" Target="../media/image14.jp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drive.google.com/file/d/1oSGb8zO8kOdEq5kj-1Kc69FEnmB0LgGL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gif"/><Relationship Id="rId4" Type="http://schemas.openxmlformats.org/officeDocument/2006/relationships/image" Target="../media/image7.gif"/><Relationship Id="rId5" Type="http://schemas.openxmlformats.org/officeDocument/2006/relationships/image" Target="../media/image10.gif"/><Relationship Id="rId6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title="best_rollout_can.gif"/>
          <p:cNvPicPr preferRelativeResize="0"/>
          <p:nvPr/>
        </p:nvPicPr>
        <p:blipFill rotWithShape="1">
          <a:blip r:embed="rId3">
            <a:alphaModFix amt="30000"/>
          </a:blip>
          <a:srcRect b="-33333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7" name="Google Shape;87;p13"/>
          <p:cNvSpPr txBox="1"/>
          <p:nvPr>
            <p:ph idx="4294967295"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Arial"/>
                <a:ea typeface="Arial"/>
                <a:cs typeface="Arial"/>
                <a:sym typeface="Arial"/>
              </a:rPr>
              <a:t>Hybrid Robot Trajectory Generation: </a:t>
            </a:r>
            <a:r>
              <a:rPr i="1" lang="en" sz="2900">
                <a:latin typeface="Arial"/>
                <a:ea typeface="Arial"/>
                <a:cs typeface="Arial"/>
                <a:sym typeface="Arial"/>
              </a:rPr>
              <a:t>Learned demonstration priors meet model-based diffusion</a:t>
            </a:r>
            <a:r>
              <a:rPr lang="en" sz="2800">
                <a:latin typeface="Arial"/>
                <a:ea typeface="Arial"/>
                <a:cs typeface="Arial"/>
                <a:sym typeface="Arial"/>
              </a:rPr>
              <a:t> </a:t>
            </a:r>
            <a:endParaRPr sz="5900"/>
          </a:p>
        </p:txBody>
      </p:sp>
      <p:sp>
        <p:nvSpPr>
          <p:cNvPr id="88" name="Google Shape;88;p13"/>
          <p:cNvSpPr txBox="1"/>
          <p:nvPr>
            <p:ph idx="4294967295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D1117"/>
                </a:solidFill>
              </a:rPr>
              <a:t>Zihao Sun and Charles Beck</a:t>
            </a:r>
            <a:endParaRPr sz="1800">
              <a:solidFill>
                <a:srgbClr val="0D111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combine priors and Model-Based Diffusion?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1970850"/>
            <a:ext cx="76887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000000"/>
                </a:solidFill>
              </a:rPr>
              <a:t>Pan et al.</a:t>
            </a:r>
            <a:r>
              <a:rPr lang="en" sz="1400">
                <a:solidFill>
                  <a:srgbClr val="000000"/>
                </a:solidFill>
              </a:rPr>
              <a:t>’s MBD data integration is a hard switch between model and demonstration data trust. </a:t>
            </a:r>
            <a:r>
              <a:rPr lang="en" sz="1400" u="sng">
                <a:solidFill>
                  <a:srgbClr val="000000"/>
                </a:solidFill>
              </a:rPr>
              <a:t>What if you blend them continuously and does the cost still get to add anything?</a:t>
            </a:r>
            <a:endParaRPr sz="14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Our project deals with a Franka Panda robot arm with 7 DoF on several complex manipulation tasks. This provides high dimensional controls on tasks with sometimes sparse reward functions.</a:t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95" name="Google Shape;95;p14"/>
          <p:cNvGraphicFramePr/>
          <p:nvPr/>
        </p:nvGraphicFramePr>
        <p:xfrm>
          <a:off x="1161463" y="3172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{466D1B7C-E844-4EAC-9DDB-2352D24FB9F9}</a:tableStyleId>
              </a:tblPr>
              <a:tblGrid>
                <a:gridCol w="2175700"/>
                <a:gridCol w="2175700"/>
                <a:gridCol w="2175700"/>
              </a:tblGrid>
              <a:tr h="193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BC alone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MBD alone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Our hybrid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smooth but drifts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cost-only, can't find basin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structured </a:t>
                      </a:r>
                      <a:r>
                        <a:rPr i="1" lang="en" sz="1200">
                          <a:solidFill>
                            <a:srgbClr val="0D1117"/>
                          </a:solidFill>
                        </a:rPr>
                        <a:t>and</a:t>
                      </a: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 cost-aware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Can: 6.7 % (4 / 60)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Can: 0.0 % (0 / 60)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0D1117"/>
                          </a:solidFill>
                        </a:rPr>
                        <a:t>Can: 86.7 % (Phase F best)</a:t>
                      </a:r>
                      <a:endParaRPr sz="1200">
                        <a:solidFill>
                          <a:srgbClr val="0D1117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4943"/>
          <a:stretch/>
        </p:blipFill>
        <p:spPr>
          <a:xfrm>
            <a:off x="1491276" y="4233875"/>
            <a:ext cx="5928900" cy="6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idx="4294967295" type="title"/>
          </p:nvPr>
        </p:nvSpPr>
        <p:spPr>
          <a:xfrm>
            <a:off x="729450" y="156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Composite Score: Blend the learned and </a:t>
            </a:r>
            <a:r>
              <a:rPr lang="en"/>
              <a:t>analytical</a:t>
            </a:r>
            <a:r>
              <a:rPr lang="en"/>
              <a:t> gradients</a:t>
            </a:r>
            <a:endParaRPr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o&gt;&amp;#x2207;&lt;/mo&gt;&lt;mi&gt;log&lt;/mi&gt;&lt;msub&gt;&lt;mi&gt;p&lt;/mi&gt;&lt;mi&gt;t&lt;/mi&gt;&lt;/msub&gt;&lt;mo&gt;(&lt;/mo&gt;&lt;mi&gt;&amp;#x3C4;&lt;/mi&gt;&lt;mo&gt;)&lt;/mo&gt;&lt;mo&gt;&amp;#xA0;&lt;/mo&gt;&lt;mo&gt;&amp;#x2248;&lt;/mo&gt;&lt;mo&gt;&amp;#xA0;&lt;/mo&gt;&lt;munder&gt;&lt;munder&gt;&lt;mrow&gt;&lt;mo&gt;&amp;#x2207;&lt;/mo&gt;&lt;mi&gt;log&lt;/mi&gt;&lt;msubsup&gt;&lt;mi&gt;p&lt;/mi&gt;&lt;mi&gt;t&lt;/mi&gt;&lt;mi&gt;data&lt;/mi&gt;&lt;/msubsup&gt;&lt;mo&gt;(&lt;/mo&gt;&lt;mi&gt;&amp;#x3C4;&lt;/mi&gt;&lt;mo&gt;)&lt;/mo&gt;&lt;/mrow&gt;&lt;mo&gt;&amp;#x23DF;&lt;/mo&gt;&lt;/munder&gt;&lt;mtext&gt;learned prior&lt;/mtext&gt;&lt;/munder&gt;&lt;mo&gt;&amp;#xA0;&lt;/mo&gt;&lt;mo&gt;+&lt;/mo&gt;&lt;mo&gt;&amp;#xA0;&lt;/mo&gt;&lt;mi&gt;&amp;#x3BB;&lt;/mi&gt;&lt;mo&gt;(&lt;/mo&gt;&lt;msub&gt;&lt;mi&gt;&amp;#x3C3;&lt;/mi&gt;&lt;mi&gt;t&lt;/mi&gt;&lt;/msub&gt;&lt;mo&gt;)&lt;/mo&gt;&lt;mo&gt;&amp;#x200A;&lt;/mo&gt;&lt;munder&gt;&lt;munder&gt;&lt;mrow&gt;&lt;mo&gt;&amp;#x2207;&lt;/mo&gt;&lt;mi&gt;log&lt;/mi&gt;&lt;msubsup&gt;&lt;mi&gt;p&lt;/mi&gt;&lt;mi&gt;t&lt;/mi&gt;&lt;mi&gt;model&lt;/mi&gt;&lt;/msubsup&gt;&lt;mo&gt;(&lt;/mo&gt;&lt;mi&gt;&amp;#x3C4;&lt;/mi&gt;&lt;mo&gt;)&lt;/mo&gt;&lt;/mrow&gt;&lt;mo&gt;&amp;#x23DF;&lt;/mo&gt;&lt;/munder&gt;&lt;mtext&gt;MBD cost&lt;/mtext&gt;&lt;/munder&gt;&lt;mo&gt;&amp;#x200A;&lt;/mo&gt;&lt;mo&gt;,&lt;/mo&gt;&lt;mo&gt;&amp;#xA0;&amp;#xA0;&lt;/mo&gt;&lt;msup&gt;&lt;mi&gt;p&lt;/mi&gt;&lt;mi&gt;model&lt;/mi&gt;&lt;/msup&gt;&lt;mo&gt;(&lt;/mo&gt;&lt;mi&gt;&amp;#x3C4;&lt;/mi&gt;&lt;mo&gt;)&lt;/mo&gt;&lt;mo&gt;&amp;#x221D;&lt;/mo&gt;&lt;mi&gt;exp&lt;/mi&gt;&lt;mo&gt;(&lt;/mo&gt;&lt;mo&gt;-&lt;/mo&gt;&lt;mi&gt;J&lt;/mi&gt;&lt;mo&gt;(&lt;/mo&gt;&lt;mi&gt;&amp;#x3C4;&lt;/mi&gt;&lt;mo&gt;)&lt;/mo&gt;&lt;mo&gt;/&lt;/mo&gt;&lt;mi&gt;&amp;#x3B2;&lt;/mi&gt;&lt;mo&gt;)&lt;/mo&gt;&lt;mo&gt;.&lt;/mo&gt;&lt;/mstyle&gt;&lt;/math&gt;&quot;,&quot;truncated&quot;:false}" id="102" name="Google Shape;102;p15" title="nabla log p subscript t left parenthesis tau right parenthesis space almost equal to space stack stack nabla log p subscript t superscript data left parenthesis tau right parenthesis with underbrace below with text learned prior end text below space plus space lambda left parenthesis sigma subscript t right parenthesis   stack stack nabla log p subscript t superscript model left parenthesis tau right parenthesis with underbrace below with text MBD cost end text below   comma    p to the power of model left parenthesis tau right parenthesis proportional to exp left parenthesis negative J left parenthesis tau right parenthesis divided by beta right parenthesi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745" y="1190283"/>
            <a:ext cx="7322514" cy="5617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99050" y="2448850"/>
            <a:ext cx="3735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0" marL="457200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p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data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: learned from demos 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161925" lvl="1" marL="657225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BC / flow / retrieval / DP.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914400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190500" lvl="0" marL="457200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p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model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: hand-designed cost J(τ)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161925" lvl="1" marL="657225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goal-distance, contact, grip.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914400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190500" lvl="0" marL="457200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λ(σ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): noise-schedule-dependent 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weight that blends them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161925" lvl="1" marL="657225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λ=0 recovers pure prior denoising 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-161925" lvl="1" marL="657225" marR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λ→∞ recovers MBD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4" name="Google Shape;104;p15" title="method_architect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1725" y="1752075"/>
            <a:ext cx="5580774" cy="211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3475950" y="3926650"/>
            <a:ext cx="512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The yellow branch is the analytical-cost path; the blue branch is the learned-prior bridge. Both flow into the same τ</a:t>
            </a:r>
            <a:r>
              <a:rPr baseline="-25000"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t−1</a:t>
            </a: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 update step on the right. 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title="trajectory_on_env_c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00" y="2747163"/>
            <a:ext cx="2919539" cy="230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title="trajectory_on_env_squa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475" y="149273"/>
            <a:ext cx="3223277" cy="243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title="trajectory_on_env_lift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4470" y="2587900"/>
            <a:ext cx="3085294" cy="2438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723300" y="149276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D1117"/>
                </a:solidFill>
                <a:latin typeface="Raleway"/>
                <a:ea typeface="Raleway"/>
                <a:cs typeface="Raleway"/>
                <a:sym typeface="Raleway"/>
              </a:rPr>
              <a:t>Cross-Task Results</a:t>
            </a:r>
            <a:endParaRPr b="1" sz="2500">
              <a:solidFill>
                <a:srgbClr val="0D111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4" name="Google Shape;114;p16" title="Screenshot 2026-06-07 at 20.13.24.png"/>
          <p:cNvPicPr preferRelativeResize="0"/>
          <p:nvPr/>
        </p:nvPicPr>
        <p:blipFill rotWithShape="1">
          <a:blip r:embed="rId6">
            <a:alphaModFix/>
          </a:blip>
          <a:srcRect b="0" l="1068" r="0" t="0"/>
          <a:stretch/>
        </p:blipFill>
        <p:spPr>
          <a:xfrm>
            <a:off x="455043" y="796375"/>
            <a:ext cx="4256102" cy="18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3549575" y="3149125"/>
            <a:ext cx="17229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Lato"/>
                <a:ea typeface="Lato"/>
                <a:cs typeface="Lato"/>
                <a:sym typeface="Lato"/>
              </a:rPr>
              <a:t>Square is harder because the sparse success signal only appears after precise alignment and contact, so small errors are not corrected until very late.</a:t>
            </a:r>
            <a:endParaRPr i="1" sz="1000">
              <a:solidFill>
                <a:srgbClr val="DBD9D9"/>
              </a:solidFill>
              <a:highlight>
                <a:srgbClr val="29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E5E7EB"/>
              </a:solidFill>
              <a:highlight>
                <a:srgbClr val="29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idx="4294967295" type="title"/>
          </p:nvPr>
        </p:nvSpPr>
        <p:spPr>
          <a:xfrm>
            <a:off x="336225" y="61643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Different Priors</a:t>
            </a:r>
            <a:endParaRPr/>
          </a:p>
        </p:txBody>
      </p:sp>
      <p:pic>
        <p:nvPicPr>
          <p:cNvPr id="121" name="Google Shape;121;p17" title="Screenshot 2026-06-07 at 20.15.27.png"/>
          <p:cNvPicPr preferRelativeResize="0"/>
          <p:nvPr/>
        </p:nvPicPr>
        <p:blipFill rotWithShape="1">
          <a:blip r:embed="rId3">
            <a:alphaModFix/>
          </a:blip>
          <a:srcRect b="0" l="1293" r="0" t="1643"/>
          <a:stretch/>
        </p:blipFill>
        <p:spPr>
          <a:xfrm>
            <a:off x="209563" y="1237900"/>
            <a:ext cx="8724874" cy="340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2279325" y="4646700"/>
            <a:ext cx="427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This slide is updated after we realized that we failed to report a later version of Flow-matching model that is implemented correctly. The original plot can be seen </a:t>
            </a:r>
            <a:r>
              <a:rPr i="1" lang="en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here</a:t>
            </a:r>
            <a:r>
              <a:rPr i="1"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i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idx="4294967295" type="title"/>
          </p:nvPr>
        </p:nvSpPr>
        <p:spPr>
          <a:xfrm>
            <a:off x="729450" y="322457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 Cells</a:t>
            </a:r>
            <a:endParaRPr/>
          </a:p>
        </p:txBody>
      </p:sp>
      <p:graphicFrame>
        <p:nvGraphicFramePr>
          <p:cNvPr id="128" name="Google Shape;128;p18"/>
          <p:cNvGraphicFramePr/>
          <p:nvPr/>
        </p:nvGraphicFramePr>
        <p:xfrm>
          <a:off x="293125" y="9524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{466D1B7C-E844-4EAC-9DDB-2352D24FB9F9}</a:tableStyleId>
              </a:tblPr>
              <a:tblGrid>
                <a:gridCol w="474700"/>
                <a:gridCol w="1224700"/>
                <a:gridCol w="1172200"/>
                <a:gridCol w="1097200"/>
              </a:tblGrid>
              <a:tr h="58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λ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Cell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Wilson 95 % CI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Lift vs canonical (λ=0.5)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/ 30 = 60.0 %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[42.3, 75.4]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−13.3 pp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44 / 60 = 73.3 %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[61.0, 82.9]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(baseline)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 / 30 = 86.7 %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[70.3, 94.7]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D111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+13.4 pp GREEN</a:t>
                      </a:r>
                      <a:endParaRPr sz="1100">
                        <a:solidFill>
                          <a:srgbClr val="0D111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57150" marB="57150" marR="123825" marL="123825" anchor="ctr">
                    <a:lnL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18"/>
          <p:cNvSpPr txBox="1"/>
          <p:nvPr/>
        </p:nvSpPr>
        <p:spPr>
          <a:xfrm>
            <a:off x="0" y="3379175"/>
            <a:ext cx="484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3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Char char="●"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λ controls the weight of the MBD correction relative to the prior.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33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Char char="○"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When λ is small, the prior dominates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33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Char char="○"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When λ is larger, MBD can pull the trajectory more strongly toward task success.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3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Char char="●"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K controls the refinement budget: more denoising/refinement steps give MBD more chances to correct the sample.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4650025" y="3379175"/>
            <a:ext cx="4352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33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Char char="●"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Both sweeps reveal GREEN cells.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33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Char char="●"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MBD helps only when the prior is useful but not saturated.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33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Char char="●"/>
            </a:pPr>
            <a:r>
              <a:rPr lang="en" sz="1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The lift comes from refinement, not from replacing the prior.</a:t>
            </a:r>
            <a:endParaRPr sz="1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214825" y="3025163"/>
            <a:ext cx="443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(All trials here are ran using DP prior)</a:t>
            </a:r>
            <a:endParaRPr i="1"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18" title="Screenshot 2026-06-07 at 19.22.35.png"/>
          <p:cNvPicPr preferRelativeResize="0"/>
          <p:nvPr/>
        </p:nvPicPr>
        <p:blipFill rotWithShape="1">
          <a:blip r:embed="rId3">
            <a:alphaModFix/>
          </a:blip>
          <a:srcRect b="1848" l="1019" r="0" t="2375"/>
          <a:stretch/>
        </p:blipFill>
        <p:spPr>
          <a:xfrm>
            <a:off x="4342263" y="1120425"/>
            <a:ext cx="4729066" cy="182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4294967295" type="title"/>
          </p:nvPr>
        </p:nvSpPr>
        <p:spPr>
          <a:xfrm>
            <a:off x="727650" y="147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Adaptation Scaling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835450" y="3933850"/>
            <a:ext cx="78819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saturates by N_b ≈ 20, so demo-bank size is not the main limiter.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harder modes like Square, simply adding demos is unlikely to fix the gap without a better prior or stronger adaptation.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9" title="scaling_l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866" y="714262"/>
            <a:ext cx="7982259" cy="31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 title="Screenshot 2026-06-01 at 14.44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600" y="851975"/>
            <a:ext cx="5604803" cy="302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idx="4294967295" type="title"/>
          </p:nvPr>
        </p:nvSpPr>
        <p:spPr>
          <a:xfrm>
            <a:off x="727650" y="147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Adaptation on Dynamics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2028300" y="4015900"/>
            <a:ext cx="50874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Retrained BC stays near the floor under mass shift.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remains robust across the sweep.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~1 s adaptation with 5 demos further stabilizes performance.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518725" y="21741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b="1" lang="en" sz="120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Use tiny datasets for conditioning, not retraining.</a:t>
            </a:r>
            <a:r>
              <a:rPr lang="en" sz="120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 Five new demos were enough to break our behavior-cloning baseline, but the same five worked well as retrieval targets. Small datasets are too noisy for reliable gradient updates.</a:t>
            </a:r>
            <a:endParaRPr sz="1200">
              <a:solidFill>
                <a:srgbClr val="1F23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b="1" lang="en" sz="120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Always run a no-op sanity check.</a:t>
            </a:r>
            <a:r>
              <a:rPr lang="en" sz="120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 When a method is turned off, the system should behave exactly like the baseline. A small reset bug cost us weeks because the “disabled” method was still changing behavior.</a:t>
            </a:r>
            <a:endParaRPr sz="1200">
              <a:solidFill>
                <a:srgbClr val="1F23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1143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b="1" lang="en" sz="120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Sweep broadly before calling a method general.</a:t>
            </a:r>
            <a:r>
              <a:rPr lang="en" sz="120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 A prior can look strong in one narrow setting but fail nearby. Testing across wider settings helps reveal whether it is truly general or just a specialist.</a:t>
            </a:r>
            <a:endParaRPr sz="1200">
              <a:solidFill>
                <a:srgbClr val="0D111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and Conclusion</a:t>
            </a:r>
            <a:endParaRPr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727650" y="1976275"/>
            <a:ext cx="7688700" cy="29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2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Conclusions:</a:t>
            </a:r>
            <a:endParaRPr b="1" sz="112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Cross-task:</a:t>
            </a:r>
            <a:r>
              <a:rPr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Lift reaches 100%, Can reaches 73.8%, and Square is no longer stuck at the floor: with H = 300 and λ = 2, it reaches 50.0%.</a:t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Adaptation:</a:t>
            </a:r>
            <a:r>
              <a:rPr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We get a 78× speedup over retraining (about 1 s vs 78 s with 5 demos), and the result holds across 3 seeds and 5 mass scales from 1.1 → 1.5.</a:t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prior gives a useful starting point, but the analytical cost gradient is what helps close the gap.</a:t>
            </a:r>
            <a:r>
              <a:rPr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Without that cost term, the inner loop stays below our headline Lift/Can results; with prior + cost gradient together, the method closes the gap.</a:t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Future work:</a:t>
            </a:r>
            <a:endParaRPr b="1"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Fix tool_hang and transport.</a:t>
            </a:r>
            <a:r>
              <a:rPr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Reward-signal bug is patched; scored runs queued.</a:t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Push adaptation to N = 200 demos</a:t>
            </a:r>
            <a:r>
              <a:rPr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wider perturbations.</a:t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Repeat adaptation under a trained-policy prior</a:t>
            </a:r>
            <a:r>
              <a:rPr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— does the 78× story generalise beyond retrieval?</a:t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Contrastive encoder for Square</a:t>
            </a:r>
            <a:r>
              <a:rPr lang="en"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break the 8 % representation ceiling.</a:t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12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1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/>
        </p:nvSpPr>
        <p:spPr>
          <a:xfrm>
            <a:off x="2354400" y="2140800"/>
            <a:ext cx="4435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  <a:endParaRPr b="1" sz="2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D1117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b="1" sz="2200">
              <a:solidFill>
                <a:srgbClr val="0D1117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23" title="best_rollout_squar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 title="best_rollout_tool_hang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0"/>
            <a:ext cx="3429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 title="best_rollout_transport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571750"/>
            <a:ext cx="3429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 title="best_rollout_lift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0" y="2571750"/>
            <a:ext cx="3429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